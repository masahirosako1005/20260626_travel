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" cy="6858000"/>
          </a:xfrm>
          <a:prstGeom prst="rect">
            <a:avLst/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19" y="4663440"/>
            <a:ext cx="2560320" cy="2560320"/>
          </a:xfrm>
          <a:prstGeom prst="ellipse">
            <a:avLst/>
          </a:prstGeom>
          <a:solidFill>
            <a:srgbClr val="3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4480559"/>
            <a:ext cx="1645920" cy="1645920"/>
          </a:xfrm>
          <a:prstGeom prst="ellipse">
            <a:avLst/>
          </a:prstGeom>
          <a:solidFill>
            <a:srgbClr val="3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38560" y="6035040"/>
            <a:ext cx="1097280" cy="1097280"/>
          </a:xfrm>
          <a:prstGeom prst="ellipse">
            <a:avLst/>
          </a:prstGeom>
          <a:solidFill>
            <a:srgbClr val="3D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メイリオ"/>
              </a:rPr>
              <a:t>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E07B39"/>
                </a:solidFill>
                <a:latin typeface="游ゴシック"/>
              </a:rPr>
              <a:t>旅のつづき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11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8D8F0"/>
                </a:solidFill>
                <a:latin typeface="游ゴシック"/>
              </a:rPr>
              <a:t>一度の観光を、終わらせない。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4251960"/>
            <a:ext cx="73152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4343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游ゴシック"/>
              </a:rPr>
              <a:t>観光再訪アプリ 企画提案書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94360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0A8C8"/>
                </a:solidFill>
                <a:latin typeface="メイリオ"/>
              </a:rPr>
              <a:t>2026年6月　</a:t>
            </a:r>
            <a:r>
              <a:rPr lang="ja-JP" altLang="en-US" sz="1400" b="0" i="0" dirty="0" smtClean="0">
                <a:solidFill>
                  <a:srgbClr val="90A8C8"/>
                </a:solidFill>
                <a:latin typeface="メイリオ"/>
              </a:rPr>
              <a:t>システム開発部門</a:t>
            </a:r>
            <a:endParaRPr sz="1400" b="0" i="0" dirty="0">
              <a:solidFill>
                <a:srgbClr val="90A8C8"/>
              </a:solidFill>
              <a:latin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0" y="13716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3D5A8A"/>
                </a:solidFill>
                <a:latin typeface="游ゴシック"/>
              </a:rPr>
              <a:t>TRAVEL
REVISIT
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01 / 企画の目的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企画の目的とご提案内容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観光客の「一度きり」を「継続的な関係」へ転換する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" y="1234440"/>
            <a:ext cx="534924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1234440"/>
            <a:ext cx="5349240" cy="502920"/>
          </a:xfrm>
          <a:prstGeom prst="roundRect">
            <a:avLst>
              <a:gd name="adj" fmla="val 2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⚠  現状の課題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7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スタンプラリーは一度きりのイベントで終わる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85415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65"/>
                </a:solidFill>
                <a:latin typeface="メイリオ"/>
              </a:rPr>
              <a:t>イベント期間外の再訪・継続接触が生まれにくい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02920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35223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訪問データが蓄積されても活用されない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27831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65"/>
                </a:solidFill>
                <a:latin typeface="メイリオ"/>
              </a:rPr>
              <a:t>行動履歴・嗜好データが施策改善に繋がっていない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57015"/>
            <a:ext cx="502920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9593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全ユーザーへの画一的な情報発信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70248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65"/>
                </a:solidFill>
                <a:latin typeface="メイリオ"/>
              </a:rPr>
              <a:t>個人の行動パターンに基づく個別化ができていない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99432"/>
            <a:ext cx="502920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001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🗺️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0055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管理者が人流・KPIをリアルタイム把握できない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12664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A65"/>
                </a:solidFill>
                <a:latin typeface="メイリオ"/>
              </a:rPr>
              <a:t>データドリブンな観光施策の立案・改善が困難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724144" y="3566160"/>
            <a:ext cx="502920" cy="320040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63640" y="1234440"/>
            <a:ext cx="5577840" cy="5257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63640" y="123444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2984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✅  ご提案内容 ─ 旅のつづき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874519"/>
            <a:ext cx="5349240" cy="914400"/>
          </a:xfrm>
          <a:prstGeom prst="roundRect">
            <a:avLst>
              <a:gd name="adj" fmla="val 3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9476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947672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845"/>
                </a:solidFill>
                <a:latin typeface="游ゴシック"/>
              </a:rPr>
              <a:t>来訪後も繋がる「継続接点」アプリ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240279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訪問履歴・スタンプ・特典を蓄積し、再訪動機を自動生成する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916935"/>
            <a:ext cx="5349240" cy="914400"/>
          </a:xfrm>
          <a:prstGeom prst="roundRect">
            <a:avLst>
              <a:gd name="adj" fmla="val 3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99008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990087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845"/>
                </a:solidFill>
                <a:latin typeface="游ゴシック"/>
              </a:rPr>
              <a:t>個別おすすめルートの自動生成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282695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嗜好・未完了ラリー・滞在パターンから最適なルートを提示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959352"/>
            <a:ext cx="5349240" cy="914400"/>
          </a:xfrm>
          <a:prstGeom prst="roundRect">
            <a:avLst>
              <a:gd name="adj" fmla="val 3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0325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❤️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032504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845"/>
                </a:solidFill>
                <a:latin typeface="游ゴシック"/>
              </a:rPr>
              <a:t>地域愛着スコアで関係性を可視化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325112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レベル・称号・バッジで地域との絆を育てる体験設計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5001768"/>
            <a:ext cx="5349240" cy="914400"/>
          </a:xfrm>
          <a:prstGeom prst="roundRect">
            <a:avLst>
              <a:gd name="adj" fmla="val 3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40E"/>
                </a:solidFill>
                <a:latin typeface="メイリオ"/>
              </a:rPr>
              <a:t>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074920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845"/>
                </a:solidFill>
                <a:latin typeface="游ゴシック"/>
              </a:rPr>
              <a:t>管理者向けKPI・再訪候補分析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36752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人流・スタンプ取得率・回遊順を可視化し施策改善を支援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02 / 技術構成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アプリケーション構成と実装内容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Node.js 24 + Express + SQLite（ネイティブモジュール）— ローカルPC1台で完結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7784" y="1426464"/>
            <a:ext cx="2286000" cy="4389120"/>
          </a:xfrm>
          <a:prstGeom prst="round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2860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A28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2286000" cy="640080"/>
          </a:xfrm>
          <a:prstGeom prst="roundRect">
            <a:avLst>
              <a:gd name="adj" fmla="val 3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" y="14264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ゴシック"/>
              </a:rPr>
              <a:t>フロントエンド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682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ブラウザ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103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利用者画面 (index.html)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237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管理者画面 (admin.html)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944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CSS /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36499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レスポンシブ対応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3" y="1426464"/>
            <a:ext cx="3886200" cy="4389120"/>
          </a:xfrm>
          <a:prstGeom prst="round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7600" y="1371600"/>
            <a:ext cx="38862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E4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57600" y="1371600"/>
            <a:ext cx="3886200" cy="640080"/>
          </a:xfrm>
          <a:prstGeom prst="roundRect">
            <a:avLst>
              <a:gd name="adj" fmla="val 3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7328" y="1426464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ゴシック"/>
              </a:rPr>
              <a:t>アプリケーション層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168249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Node.js 24 +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210312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利用者API  /api/users/*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52374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管理者API  /api/admin/*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294436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静的ファイル配信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67328" y="3383280"/>
            <a:ext cx="3666744" cy="18288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22191" y="3785615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importService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420624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recommendationService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462686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analyticsService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1" y="50474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attachmentService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58784" y="1426464"/>
            <a:ext cx="3200400" cy="4389120"/>
          </a:xfrm>
          <a:prstGeom prst="round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03920" y="1371600"/>
            <a:ext cx="3200400" cy="4389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3A8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03920" y="1371600"/>
            <a:ext cx="3200400" cy="640080"/>
          </a:xfrm>
          <a:prstGeom prst="roundRect">
            <a:avLst>
              <a:gd name="adj" fmla="val 3000"/>
            </a:avLst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13648" y="14264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游ゴシック"/>
              </a:rPr>
              <a:t>データ層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16824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SQLite (node:sqlite)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21031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users  / spots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2523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rallies / rally_spots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2944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visits / stamps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8512" y="33649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benefit_uses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2" y="378561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route_usages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42062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recommendations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834640" y="3383280"/>
            <a:ext cx="749808" cy="320040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07792" y="30906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07B39"/>
                </a:solidFill>
                <a:latin typeface="メイリオ"/>
              </a:rPr>
              <a:t>HTTP
REST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607808" y="3383280"/>
            <a:ext cx="822960" cy="320040"/>
          </a:xfrm>
          <a:prstGeom prst="rightArrow">
            <a:avLst/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80960" y="309067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3A8762"/>
                </a:solidFill>
                <a:latin typeface="メイリオ"/>
              </a:rPr>
              <a:t>SQL
Query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989320"/>
            <a:ext cx="11292840" cy="658368"/>
          </a:xfrm>
          <a:prstGeom prst="round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60533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  <a:latin typeface="游ゴシック"/>
              </a:rPr>
              <a:t>技術スタック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  <a:latin typeface="メイリオ"/>
              </a:rPr>
              <a:t>Runtime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6217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メイリオ"/>
              </a:rPr>
              <a:t>Node.js v24.16.0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  <a:latin typeface="メイリオ"/>
              </a:rPr>
              <a:t>Framework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6217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メイリオ"/>
              </a:rPr>
              <a:t>Express 4.x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3212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  <a:latin typeface="メイリオ"/>
              </a:rPr>
              <a:t>Database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6217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メイリオ"/>
              </a:rPr>
              <a:t>node:sqlite (組込)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  <a:latin typeface="メイリオ"/>
              </a:rPr>
              <a:t>Upload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6217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メイリオ"/>
              </a:rPr>
              <a:t>multer 1.x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  <a:latin typeface="メイリオ"/>
              </a:rPr>
              <a:t>Frontend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6217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メイリオ"/>
              </a:rPr>
              <a:t>Vanilla JS/CSS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60167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AACC"/>
                </a:solidFill>
                <a:latin typeface="メイリオ"/>
              </a:rPr>
              <a:t>Deploy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62179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メイリオ"/>
              </a:rPr>
              <a:t>localhost:3000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806440"/>
            <a:ext cx="11292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A7A65"/>
                </a:solidFill>
                <a:latin typeface="メイリオ"/>
              </a:rPr>
              <a:t>※ ネイティブビルドツール不要 / Node.js 標準モジュールのみ使用 / PC 1台でセットアップ完結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03 / 機能一覧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機能一覧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利用者5機能 + 管理者6機能 — 仕様書に定義した全MVP機能を実装済み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" y="1280160"/>
            <a:ext cx="5532120" cy="5257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0040" y="1280160"/>
            <a:ext cx="5532120" cy="475488"/>
          </a:xfrm>
          <a:prstGeom prst="round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ゴシック"/>
              </a:rPr>
              <a:t>👤  利用者機能（U-01 〜 U-06）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653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836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U-01  ホーム画面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前回の旅カード（訪問スポット・スタンプ数）  ・ 未完了ラリー進捗バー  ・ 今日のおすすめルート（60分コース）  ・ 利用可能な特典一覧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706624"/>
            <a:ext cx="534924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8163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U-02  旅のリプレイ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272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セッション別・時系列の訪問履歴  ・ スタンプ取得・特典利用の詳細表示  ・ 前回の旅の特徴コメント自動生成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657600"/>
            <a:ext cx="534924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767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8561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U-03  未完了一覧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7822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未完了ラリーの進捗バーと残スポット表示  ・ スタンプ取得ボタン（モック操作）  ・ 未訪問スポット一覧・推定所要時間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608576"/>
            <a:ext cx="534924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7183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🗺️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36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U-04  個別おすすめルート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60分／90分／半日／1日／地元再発見の5コース  ・ 推薦スコアに基づくパーソナライズ  ・ 未完了スタンプ・嗜好カテゴリを考慮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5559552"/>
            <a:ext cx="534924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6692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875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U-05  地域愛着スコア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01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スコア・レベル（Lv.1〜5）・称号の表示  ・ 次レベルまでの進捗バー  ・ ユーザータイプ判定・獲得バッジ一覧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280160"/>
            <a:ext cx="5852160" cy="5257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035040" y="1280160"/>
            <a:ext cx="5852160" cy="475488"/>
          </a:xfrm>
          <a:prstGeom prst="round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游ゴシック"/>
              </a:rPr>
              <a:t>⚙  管理者機能（A-01 〜 A-06）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18653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18836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A-01  管理ダッシュボード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1396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再訪率・スタンプ完了率・平均訪問スポット数など6KPI  ・ 人気スポット／平均滞在時間ランキング  ・ ユーザータイプ分布・よくある回遊順Top10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578608"/>
            <a:ext cx="562356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08192" y="26700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26883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A-02  JSONインポート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294436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JSONファイルアップロード（最大20MB）  ・ 同梱data.jsonのワンクリックインポート  ・ 登録件数・エラー詳細をその場で確認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383280"/>
            <a:ext cx="562356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08192" y="3474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34930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A-03  スポット管理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3749039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スポットの追加・編集・削除（CRUD）  ・ カテゴリ・エリア・標準滞在時間の設定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187952"/>
            <a:ext cx="562356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08192" y="42793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0528" y="42976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A-04  ラリー管理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5537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ラリーと対象スポットの一覧閲覧  ・ 季節タグによる絞り込み表示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992624"/>
            <a:ext cx="562356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08192" y="508406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51023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A-05  特典管理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535838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特典・クーポンの一覧管理  ・ 対象スポット・想定価値の確認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5797296"/>
            <a:ext cx="562356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08192" y="58887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8140E"/>
                </a:solidFill>
                <a:latin typeface="メイリオ"/>
              </a:rPr>
              <a:t>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59070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845"/>
                </a:solidFill>
                <a:latin typeface="游ゴシック"/>
              </a:rPr>
              <a:t>A-06  再訪候補ユーザー一覧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616305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・ 再訪スコア順100名の自動抽出  ・ ユーザータイプ・未完了ラリー数・再訪理由付き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04 / 利用者画面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画面イメージ — 利用者機能編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ユーザーは1台のブラウザから全機能にアクセス。直感的なスマートフォン対応UI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2566949" cy="4503420"/>
          </a:xfrm>
          <a:prstGeom prst="roundRect">
            <a:avLst>
              <a:gd name="adj" fmla="val 4000"/>
            </a:avLst>
          </a:prstGeom>
          <a:solidFill>
            <a:srgbClr val="202025"/>
          </a:solidFill>
          <a:ln w="1905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4388" y="1432590"/>
            <a:ext cx="2386812" cy="4107119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4388" y="1432590"/>
            <a:ext cx="2386812" cy="378287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443" y="1486631"/>
            <a:ext cx="2242703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🧳 旅のつづき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429" y="1864918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2470" y="1936973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470" y="1918959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716" y="190094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旅人001さん  Lv.3 地域探索者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16" y="2081082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前回の旅：3スポット訪問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10790" y="1973000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10790" y="1973000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150pt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429" y="2405329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2470" y="2477383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470" y="2459370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716" y="244135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未完了ラリー  4件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716" y="2621493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歴史さんぽラリー 67%完了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10790" y="2513411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10790" y="2513411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残り1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429" y="2945739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72470" y="3017794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470" y="2999780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🗺️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716" y="298176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今日のおすすめ 60分コース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716" y="3161903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城址公園 → 歴史資料館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10790" y="3053821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10790" y="3053821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NEW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8429" y="3486150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72470" y="3558204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2470" y="3540191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716" y="3522177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利用可能な特典  3件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6716" y="3702314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町家カフェ100円引き ほか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4388" y="5143408"/>
            <a:ext cx="2386812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0616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7B39"/>
                </a:solidFill>
                <a:latin typeface="メイリオ"/>
              </a:rPr>
              <a:t>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320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4023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90726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🗺️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852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845"/>
                </a:solidFill>
                <a:latin typeface="游ゴシック"/>
              </a:rPr>
              <a:t>ホーム画面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82112" y="1234440"/>
            <a:ext cx="2566949" cy="4503420"/>
          </a:xfrm>
          <a:prstGeom prst="roundRect">
            <a:avLst>
              <a:gd name="adj" fmla="val 4000"/>
            </a:avLst>
          </a:prstGeom>
          <a:solidFill>
            <a:srgbClr val="202025"/>
          </a:solidFill>
          <a:ln w="1905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72180" y="1432590"/>
            <a:ext cx="2386812" cy="4107119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72180" y="1432590"/>
            <a:ext cx="2386812" cy="378287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44235" y="1486631"/>
            <a:ext cx="2242703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🗺️ おすすめルート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26221" y="1864918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380262" y="1936973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0262" y="1918959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4508" y="190094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60分コース  2スポット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4508" y="2081082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城址公園 → 古民家ギャラリー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18582" y="1973000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18582" y="1973000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60分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26221" y="2405329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380262" y="2477383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80262" y="2459370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04508" y="244135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90分コース  3スポット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4508" y="2621493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水辺テラス → 展望台 → 里山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18582" y="2513411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18582" y="2513411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90分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26221" y="2945739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380262" y="3017794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380262" y="2999780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04508" y="298176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半日コース  4スポット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04508" y="3161903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歴史・自然・グルメを満喫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18582" y="3053821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118582" y="3053821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180分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26221" y="3486150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3380262" y="3558204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380262" y="3540191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04508" y="3522177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地元再発見コース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04508" y="3702314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路地裏商店街 → 地元市場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18582" y="3594232"/>
            <a:ext cx="450342" cy="198150"/>
          </a:xfrm>
          <a:prstGeom prst="roundRect">
            <a:avLst>
              <a:gd name="adj" fmla="val 50000"/>
            </a:avLst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18582" y="3594232"/>
            <a:ext cx="450342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E07B39"/>
                </a:solidFill>
                <a:latin typeface="メイリオ"/>
              </a:rPr>
              <a:t>120分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72180" y="5143408"/>
            <a:ext cx="2386812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408408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7B39"/>
                </a:solidFill>
                <a:latin typeface="メイリオ"/>
              </a:rPr>
              <a:t>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05112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01815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🗺️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98518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82112" y="5852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845"/>
                </a:solidFill>
                <a:latin typeface="游ゴシック"/>
              </a:rPr>
              <a:t>おすすめルート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89904" y="1234440"/>
            <a:ext cx="2566949" cy="4503420"/>
          </a:xfrm>
          <a:prstGeom prst="roundRect">
            <a:avLst>
              <a:gd name="adj" fmla="val 4000"/>
            </a:avLst>
          </a:prstGeom>
          <a:solidFill>
            <a:srgbClr val="202025"/>
          </a:solidFill>
          <a:ln w="19050">
            <a:solidFill>
              <a:srgbClr val="4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179972" y="1432590"/>
            <a:ext cx="2386812" cy="4107119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179972" y="1432590"/>
            <a:ext cx="2386812" cy="378287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252027" y="1486631"/>
            <a:ext cx="2242703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⭐ 地域愛着スコア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34013" y="1864918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288054" y="1936973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88054" y="1918959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🌟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12300" y="190094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150 pts  / Lv.3 地域探索者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12300" y="2081082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次レベルまで  30pt  ▓▓▓▓▓▓░░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34013" y="2405329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6288054" y="2477383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88054" y="2459370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📊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12300" y="244135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訪問6スポット  スタンプ12個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12300" y="2621493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特典利用3回  完了ラリー1件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34013" y="2945739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6288054" y="3017794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288054" y="2999780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12300" y="2981766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コンプリート型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12300" y="3161903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スタンプ収集が得意なタイプ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34013" y="3486150"/>
            <a:ext cx="2278730" cy="4683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6288054" y="3558204"/>
            <a:ext cx="270205" cy="270205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88054" y="3540191"/>
            <a:ext cx="270205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07B39"/>
                </a:solidFill>
                <a:latin typeface="メイリオ"/>
              </a:rPr>
              <a:t>🎖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12300" y="3522177"/>
            <a:ext cx="1801368" cy="19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8140E"/>
                </a:solidFill>
                <a:latin typeface="游ゴシック"/>
              </a:rPr>
              <a:t>バッジ: 歴史スポット好き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12300" y="3702314"/>
            <a:ext cx="1801368" cy="18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A7A65"/>
                </a:solidFill>
                <a:latin typeface="メイリオ"/>
              </a:rPr>
              <a:t>自然満喫派 ほか取得済み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79972" y="5143408"/>
            <a:ext cx="2386812" cy="39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316200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07B39"/>
                </a:solidFill>
                <a:latin typeface="メイリオ"/>
              </a:rPr>
              <a:t>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12904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📖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09607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06310" y="5188442"/>
            <a:ext cx="315239" cy="270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A65"/>
                </a:solidFill>
                <a:latin typeface="メイリオ"/>
              </a:rPr>
              <a:t>🏅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089904" y="5852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845"/>
                </a:solidFill>
                <a:latin typeface="游ゴシック"/>
              </a:rPr>
              <a:t>地域愛着スコア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69680" y="1234440"/>
            <a:ext cx="3017520" cy="5230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8869680" y="1234440"/>
            <a:ext cx="3017520" cy="411480"/>
          </a:xfrm>
          <a:prstGeom prst="round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006840" y="12984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游ゴシック"/>
              </a:rPr>
              <a:t>設計のポイント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79407" y="1737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8140E"/>
                </a:solidFill>
                <a:latin typeface="メイリオ"/>
              </a:rPr>
              <a:t>📱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72600" y="175564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845"/>
                </a:solidFill>
                <a:latin typeface="游ゴシック"/>
              </a:rPr>
              <a:t>モバイルファースト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72600" y="2029967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ボトムナビ・カード型UIで親指操作に最適化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06840" y="2487168"/>
            <a:ext cx="269748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979407" y="2633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8140E"/>
                </a:solidFill>
                <a:latin typeface="メイリオ"/>
              </a:rPr>
              <a:t>🎯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72600" y="265176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845"/>
                </a:solidFill>
                <a:latin typeface="游ゴシック"/>
              </a:rPr>
              <a:t>パーソナライズ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72600" y="2926079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訪問履歴・嗜好から個別コンテンツを表示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06840" y="3383279"/>
            <a:ext cx="269748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9407" y="352958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8140E"/>
                </a:solidFill>
                <a:latin typeface="メイリオ"/>
              </a:rPr>
              <a:t>🏆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72600" y="354787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845"/>
                </a:solidFill>
                <a:latin typeface="游ゴシック"/>
              </a:rPr>
              <a:t>ゲーミフィケーション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72600" y="3822191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スタンプ・バッジ・レベルで継続モチベーション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006840" y="4279392"/>
            <a:ext cx="269748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979407" y="44256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8140E"/>
                </a:solidFill>
                <a:latin typeface="メイリオ"/>
              </a:rPr>
              <a:t>⚡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372600" y="4443983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845"/>
                </a:solidFill>
                <a:latin typeface="游ゴシック"/>
              </a:rPr>
              <a:t>即時フィードバック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72600" y="4718304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スタンプ取得ボタンで操作結果をその場確認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06840" y="5175504"/>
            <a:ext cx="2697480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979407" y="53218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8140E"/>
                </a:solidFill>
                <a:latin typeface="メイリオ"/>
              </a:rPr>
              <a:t>🔗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372600" y="534009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845"/>
                </a:solidFill>
                <a:latin typeface="游ゴシック"/>
              </a:rPr>
              <a:t>回遊動線設計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72600" y="5614416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ホームからリプレイ・未完了・ルートへ自然誘導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05 / 管理者画面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画面イメージ — 管理者機能編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運営者は管理画面から人流・KPI分析、スポット管理、再訪施策立案まで一元管理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261872"/>
            <a:ext cx="3335731" cy="4037990"/>
          </a:xfrm>
          <a:prstGeom prst="roundRect">
            <a:avLst>
              <a:gd name="adj" fmla="val 2000"/>
            </a:avLst>
          </a:prstGeom>
          <a:solidFill>
            <a:srgbClr val="FAF7F2"/>
          </a:solidFill>
          <a:ln w="1524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3335731" cy="24579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545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6057"/>
                </a:solidFill>
                <a:latin typeface="メイリオ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441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BD2E"/>
                </a:solidFill>
                <a:latin typeface="メイリオ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336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27C93F"/>
                </a:solidFill>
                <a:latin typeface="メイリオ"/>
              </a:rPr>
              <a:t>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07662"/>
            <a:ext cx="658368" cy="3792199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432" y="1542775"/>
            <a:ext cx="5881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游ゴシック"/>
              </a:rPr>
              <a:t>🧳 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1876" y="1788566"/>
            <a:ext cx="623255" cy="228234"/>
          </a:xfrm>
          <a:prstGeom prst="rect">
            <a:avLst/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989" y="1806122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FFFFFF"/>
                </a:solidFill>
                <a:latin typeface="メイリオ"/>
              </a:rPr>
              <a:t>📊 KPI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1876" y="2069470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6989" y="2087026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📥 取込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1876" y="2350373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6989" y="2367930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📍 スポット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1876" y="2631277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6989" y="2648833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🔔 再訪候補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913" y="1525219"/>
            <a:ext cx="2572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845"/>
                </a:solidFill>
                <a:latin typeface="游ゴシック"/>
              </a:rPr>
              <a:t>📊 ダッシュボード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5357" y="1735896"/>
            <a:ext cx="2589580" cy="17556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85357" y="1771009"/>
            <a:ext cx="594725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0470" y="1788566"/>
            <a:ext cx="568391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47.0%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470" y="2008022"/>
            <a:ext cx="568391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再訪率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23974" y="1771009"/>
            <a:ext cx="594725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59087" y="1788566"/>
            <a:ext cx="568391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4.1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9087" y="2008022"/>
            <a:ext cx="568391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平均訪問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62591" y="1771009"/>
            <a:ext cx="594725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97704" y="1788566"/>
            <a:ext cx="568391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9.7%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97704" y="2008022"/>
            <a:ext cx="568391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完了率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01208" y="1771009"/>
            <a:ext cx="594725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36321" y="1788566"/>
            <a:ext cx="568391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¥38,700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6321" y="2008022"/>
            <a:ext cx="568391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消費額推定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357" y="2332817"/>
            <a:ext cx="2589580" cy="193121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2913" y="2359151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スポット名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4403" y="2359151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訪問数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5892" y="2359151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滞在(分)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5357" y="2525938"/>
            <a:ext cx="2589580" cy="210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2913" y="2552273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E07B39"/>
                </a:solidFill>
                <a:latin typeface="メイリオ"/>
              </a:rPr>
              <a:t>城址公園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54403" y="2552273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05892" y="2552273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38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5357" y="2754172"/>
            <a:ext cx="2589580" cy="210677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2913" y="2780507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E07B39"/>
                </a:solidFill>
                <a:latin typeface="メイリオ"/>
              </a:rPr>
              <a:t>町家カフェ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4403" y="2780507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74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5892" y="2780507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45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5357" y="2982407"/>
            <a:ext cx="2589580" cy="210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2913" y="3008741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路地裏商店街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54403" y="3008741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68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5892" y="3008741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41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5357" y="3210641"/>
            <a:ext cx="2589580" cy="210677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2913" y="3236975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水辺テラス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54403" y="3236975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62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05892" y="3236975"/>
            <a:ext cx="851489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33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60520" y="1261872"/>
            <a:ext cx="3335731" cy="4037990"/>
          </a:xfrm>
          <a:prstGeom prst="roundRect">
            <a:avLst>
              <a:gd name="adj" fmla="val 2000"/>
            </a:avLst>
          </a:prstGeom>
          <a:solidFill>
            <a:srgbClr val="FAF7F2"/>
          </a:solidFill>
          <a:ln w="1524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160520" y="1261872"/>
            <a:ext cx="3335731" cy="24579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30745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6057"/>
                </a:solidFill>
                <a:latin typeface="メイリオ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53641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BD2E"/>
                </a:solidFill>
                <a:latin typeface="メイリオ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6536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27C93F"/>
                </a:solidFill>
                <a:latin typeface="メイリオ"/>
              </a:rPr>
              <a:t>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1507662"/>
            <a:ext cx="658368" cy="3792199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95632" y="1542775"/>
            <a:ext cx="5881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游ゴシック"/>
              </a:rPr>
              <a:t>🧳 管理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78076" y="1788566"/>
            <a:ext cx="623255" cy="228234"/>
          </a:xfrm>
          <a:prstGeom prst="rect">
            <a:avLst/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13189" y="1806122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FFFFFF"/>
                </a:solidFill>
                <a:latin typeface="メイリオ"/>
              </a:rPr>
              <a:t>📊 KPI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78076" y="2069470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213189" y="2087026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📥 取込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78076" y="2350373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13189" y="2367930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📍 スポット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78076" y="2631277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13189" y="2648833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🔔 再訪候補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89113" y="1525219"/>
            <a:ext cx="2572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845"/>
                </a:solidFill>
                <a:latin typeface="游ゴシック"/>
              </a:rPr>
              <a:t>🔔 再訪候補ユーザー一覧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71557" y="1735896"/>
            <a:ext cx="2589580" cy="17556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4871557" y="1771009"/>
            <a:ext cx="807598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06670" y="1788566"/>
            <a:ext cx="781263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100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06670" y="2008022"/>
            <a:ext cx="781263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対象者数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723046" y="1771009"/>
            <a:ext cx="807598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758159" y="1788566"/>
            <a:ext cx="781263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288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58159" y="2008022"/>
            <a:ext cx="781263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最高スコア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74536" y="1771009"/>
            <a:ext cx="807598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609648" y="1788566"/>
            <a:ext cx="781263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47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09648" y="2008022"/>
            <a:ext cx="781263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平均スコア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71557" y="2332817"/>
            <a:ext cx="2589580" cy="193121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889113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ニックネーム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27730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タイプ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66347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スコア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04964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理由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71557" y="2525938"/>
            <a:ext cx="2589580" cy="210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889113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E07B39"/>
                </a:solidFill>
                <a:latin typeface="メイリオ"/>
              </a:rPr>
              <a:t>旅人035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27730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コンプリート型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66347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288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04964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ラリーあと少し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71557" y="2754172"/>
            <a:ext cx="2589580" cy="210677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889113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E07B39"/>
                </a:solidFill>
                <a:latin typeface="メイリオ"/>
              </a:rPr>
              <a:t>旅人100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27730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コンプリート型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66347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288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ラリーあと少し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71557" y="2982407"/>
            <a:ext cx="2589580" cy="210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889113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旅人015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27730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コンプリート型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66347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260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04964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ラリー未完了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46720" y="1261872"/>
            <a:ext cx="3335731" cy="4037990"/>
          </a:xfrm>
          <a:prstGeom prst="roundRect">
            <a:avLst>
              <a:gd name="adj" fmla="val 2000"/>
            </a:avLst>
          </a:prstGeom>
          <a:solidFill>
            <a:srgbClr val="FAF7F2"/>
          </a:solidFill>
          <a:ln w="1524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46720" y="1261872"/>
            <a:ext cx="3335731" cy="245790"/>
          </a:xfrm>
          <a:prstGeom prst="rect">
            <a:avLst/>
          </a:prstGeom>
          <a:solidFill>
            <a:srgbClr val="E8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116945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6057"/>
                </a:solidFill>
                <a:latin typeface="メイリオ"/>
              </a:rPr>
              <a:t>●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39841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FBD2E"/>
                </a:solidFill>
                <a:latin typeface="メイリオ"/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62736" y="1296984"/>
            <a:ext cx="105338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27C93F"/>
                </a:solidFill>
                <a:latin typeface="メイリオ"/>
              </a:rPr>
              <a:t>●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46720" y="1507662"/>
            <a:ext cx="658368" cy="3792199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081832" y="1542775"/>
            <a:ext cx="58814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游ゴシック"/>
              </a:rPr>
              <a:t>🧳 管理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64276" y="1788566"/>
            <a:ext cx="623255" cy="228234"/>
          </a:xfrm>
          <a:prstGeom prst="rect">
            <a:avLst/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099389" y="1806122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FFFFFF"/>
                </a:solidFill>
                <a:latin typeface="メイリオ"/>
              </a:rPr>
              <a:t>📊 KPI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64276" y="2069470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99389" y="2087026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📥 取込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064276" y="2350373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099389" y="2367930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📍 スポット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064276" y="2631277"/>
            <a:ext cx="623255" cy="228234"/>
          </a:xfrm>
          <a:prstGeom prst="rect">
            <a:avLst/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099389" y="2648833"/>
            <a:ext cx="570585" cy="19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90A8C8"/>
                </a:solidFill>
                <a:latin typeface="メイリオ"/>
              </a:rPr>
              <a:t>🔔 再訪候補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775313" y="1525219"/>
            <a:ext cx="2572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845"/>
                </a:solidFill>
                <a:latin typeface="游ゴシック"/>
              </a:rPr>
              <a:t>📍 スポット管理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757757" y="1735896"/>
            <a:ext cx="2589580" cy="17556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757757" y="1771009"/>
            <a:ext cx="807598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792870" y="1788566"/>
            <a:ext cx="781263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12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792870" y="2008022"/>
            <a:ext cx="781263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登録スポット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609246" y="1771009"/>
            <a:ext cx="807598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644359" y="1788566"/>
            <a:ext cx="781263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44359" y="2008022"/>
            <a:ext cx="781263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ラリー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460736" y="1771009"/>
            <a:ext cx="807598" cy="48280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495848" y="1788566"/>
            <a:ext cx="781263" cy="24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07B39"/>
                </a:solidFill>
                <a:latin typeface="游ゴシック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95848" y="2008022"/>
            <a:ext cx="781263" cy="175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0">
                <a:solidFill>
                  <a:srgbClr val="8A7A65"/>
                </a:solidFill>
                <a:latin typeface="メイリオ"/>
              </a:rPr>
              <a:t>特典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757757" y="2332817"/>
            <a:ext cx="2589580" cy="193121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775313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ID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413930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名前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52547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カテゴリ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691164" y="235915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1" i="0">
                <a:solidFill>
                  <a:srgbClr val="8A7A65"/>
                </a:solidFill>
                <a:latin typeface="メイリオ"/>
              </a:rPr>
              <a:t>操作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757757" y="2525938"/>
            <a:ext cx="2589580" cy="210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775313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E07B39"/>
                </a:solidFill>
                <a:latin typeface="メイリオ"/>
              </a:rPr>
              <a:t>S001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13930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城址公園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2547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歴史・文化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691164" y="2552273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編集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757757" y="2754172"/>
            <a:ext cx="2589580" cy="210677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8775313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E07B39"/>
                </a:solidFill>
                <a:latin typeface="メイリオ"/>
              </a:rPr>
              <a:t>S002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13930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歴史資料館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052547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歴史・文化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691164" y="2780507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編集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757757" y="2982407"/>
            <a:ext cx="2589580" cy="2106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775313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S003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413930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水辺テラス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052547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自然・景観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691164" y="3008741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編集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757757" y="3210641"/>
            <a:ext cx="2589580" cy="210677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775313" y="3236975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S004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413930" y="3236975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展望台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2547" y="3236975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自然・景観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691164" y="3236975"/>
            <a:ext cx="638616" cy="15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" b="0" i="0">
                <a:solidFill>
                  <a:srgbClr val="18140E"/>
                </a:solidFill>
                <a:latin typeface="メイリオ"/>
              </a:rPr>
              <a:t>編集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74320" y="5650992"/>
            <a:ext cx="3474720" cy="960120"/>
          </a:xfrm>
          <a:prstGeom prst="roundRect">
            <a:avLst>
              <a:gd name="adj" fmla="val 3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84048" y="5687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  <a:latin typeface="游ゴシック"/>
              </a:rPr>
              <a:t>KPI・人流ダッシュボード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4048" y="5943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メイリオ"/>
              </a:rPr>
              <a:t>・ 再訪率・消費額推定など6KPI  ・ 人気スポットランキング  ・ ユーザータイプ分布・回遊順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160520" y="5650992"/>
            <a:ext cx="3474720" cy="960120"/>
          </a:xfrm>
          <a:prstGeom prst="roundRect">
            <a:avLst>
              <a:gd name="adj" fmla="val 3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270248" y="5687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  <a:latin typeface="游ゴシック"/>
              </a:rPr>
              <a:t>再訪候補ユーザー一覧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270248" y="5943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メイリオ"/>
              </a:rPr>
              <a:t>・ 再訪スコア順で100名抽出  ・ タイプ・未完了数・理由を表示  ・ 施策立案の優先度付けに活用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46720" y="5650992"/>
            <a:ext cx="3474720" cy="960120"/>
          </a:xfrm>
          <a:prstGeom prst="roundRect">
            <a:avLst>
              <a:gd name="adj" fmla="val 3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156448" y="568756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  <a:latin typeface="游ゴシック"/>
              </a:rPr>
              <a:t>スポット・ラリー・特典管理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156448" y="594360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メイリオ"/>
              </a:rPr>
              <a:t>・ CRUD操作で随時更新  ・ JSONインポートで一括登録  ・ 運営者が自由に設定可能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74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8C8"/>
                </a:solidFill>
                <a:latin typeface="游ゴシック"/>
              </a:rPr>
              <a:t>総括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游ゴシック"/>
              </a:rPr>
              <a:t>このアプリケーションで
実現する未来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719072"/>
            <a:ext cx="5486400" cy="457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828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DDFF"/>
                </a:solidFill>
                <a:latin typeface="游ゴシック"/>
              </a:rPr>
              <a:t>「来た、楽しんだ、終わった」を
「来た、繋がった、また来た」へ。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926080"/>
            <a:ext cx="3657600" cy="3547872"/>
          </a:xfrm>
          <a:prstGeom prst="roundRect">
            <a:avLst>
              <a:gd name="adj" fmla="val 3000"/>
            </a:avLst>
          </a:prstGeom>
          <a:solidFill>
            <a:srgbClr val="2E4470"/>
          </a:solidFill>
          <a:ln w="254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" y="2926080"/>
            <a:ext cx="3657600" cy="621792"/>
          </a:xfrm>
          <a:prstGeom prst="roundRect">
            <a:avLst>
              <a:gd name="adj" fmla="val 3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メイリオ"/>
              </a:rPr>
              <a:t>観光客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82112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再訪体験の変革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831336"/>
            <a:ext cx="146304" cy="146304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37307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前回の思い出・未完了から生まれる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636008"/>
            <a:ext cx="146304" cy="146304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453542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「また行きたい」を自然に演出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440680"/>
            <a:ext cx="146304" cy="146304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53400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ゲーミフィケーションで継続動機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672" y="2926080"/>
            <a:ext cx="3657600" cy="3547872"/>
          </a:xfrm>
          <a:prstGeom prst="roundRect">
            <a:avLst>
              <a:gd name="adj" fmla="val 3000"/>
            </a:avLst>
          </a:prstGeom>
          <a:solidFill>
            <a:srgbClr val="2E4470"/>
          </a:solidFill>
          <a:ln w="25400">
            <a:solidFill>
              <a:srgbClr val="3A8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33672" y="2926080"/>
            <a:ext cx="3657600" cy="621792"/>
          </a:xfrm>
          <a:prstGeom prst="roundRect">
            <a:avLst>
              <a:gd name="adj" fmla="val 3000"/>
            </a:avLst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299923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メイリオ"/>
              </a:rPr>
              <a:t>地域・運営者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182112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データドリブンな施策</a:t>
            </a:r>
          </a:p>
        </p:txBody>
      </p:sp>
      <p:sp>
        <p:nvSpPr>
          <p:cNvPr id="21" name="Oval 20"/>
          <p:cNvSpPr/>
          <p:nvPr/>
        </p:nvSpPr>
        <p:spPr>
          <a:xfrm>
            <a:off x="4370832" y="3831336"/>
            <a:ext cx="146304" cy="146304"/>
          </a:xfrm>
          <a:prstGeom prst="ellipse">
            <a:avLst/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81144" y="37307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人流・KPI・再訪率をリアルタイム把握</a:t>
            </a:r>
          </a:p>
        </p:txBody>
      </p:sp>
      <p:sp>
        <p:nvSpPr>
          <p:cNvPr id="23" name="Oval 22"/>
          <p:cNvSpPr/>
          <p:nvPr/>
        </p:nvSpPr>
        <p:spPr>
          <a:xfrm>
            <a:off x="4370832" y="4636008"/>
            <a:ext cx="146304" cy="146304"/>
          </a:xfrm>
          <a:prstGeom prst="ellipse">
            <a:avLst/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81144" y="453542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再訪候補への効率的なアプローチ</a:t>
            </a:r>
          </a:p>
        </p:txBody>
      </p:sp>
      <p:sp>
        <p:nvSpPr>
          <p:cNvPr id="25" name="Oval 24"/>
          <p:cNvSpPr/>
          <p:nvPr/>
        </p:nvSpPr>
        <p:spPr>
          <a:xfrm>
            <a:off x="4370832" y="5440680"/>
            <a:ext cx="146304" cy="146304"/>
          </a:xfrm>
          <a:prstGeom prst="ellipse">
            <a:avLst/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1144" y="53400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スポット・特典を運営者が随時更新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2926080"/>
            <a:ext cx="3657600" cy="3547872"/>
          </a:xfrm>
          <a:prstGeom prst="roundRect">
            <a:avLst>
              <a:gd name="adj" fmla="val 3000"/>
            </a:avLst>
          </a:prstGeom>
          <a:solidFill>
            <a:srgbClr val="2E4470"/>
          </a:solidFill>
          <a:ln w="25400">
            <a:solidFill>
              <a:srgbClr val="508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47304" y="2926080"/>
            <a:ext cx="3657600" cy="621792"/>
          </a:xfrm>
          <a:prstGeom prst="roundRect">
            <a:avLst>
              <a:gd name="adj" fmla="val 3000"/>
            </a:avLst>
          </a:prstGeom>
          <a:solidFill>
            <a:srgbClr val="5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84464" y="299923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メイリオ"/>
              </a:rPr>
              <a:t>ビジネス成長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3182112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持続的な地域活性化</a:t>
            </a:r>
          </a:p>
        </p:txBody>
      </p:sp>
      <p:sp>
        <p:nvSpPr>
          <p:cNvPr id="31" name="Oval 30"/>
          <p:cNvSpPr/>
          <p:nvPr/>
        </p:nvSpPr>
        <p:spPr>
          <a:xfrm>
            <a:off x="8284464" y="3831336"/>
            <a:ext cx="146304" cy="146304"/>
          </a:xfrm>
          <a:prstGeom prst="ellipse">
            <a:avLst/>
          </a:prstGeom>
          <a:solidFill>
            <a:srgbClr val="5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94776" y="37307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スタンプ＋特典で地域内消費を促進</a:t>
            </a:r>
          </a:p>
        </p:txBody>
      </p:sp>
      <p:sp>
        <p:nvSpPr>
          <p:cNvPr id="33" name="Oval 32"/>
          <p:cNvSpPr/>
          <p:nvPr/>
        </p:nvSpPr>
        <p:spPr>
          <a:xfrm>
            <a:off x="8284464" y="4636008"/>
            <a:ext cx="146304" cy="146304"/>
          </a:xfrm>
          <a:prstGeom prst="ellipse">
            <a:avLst/>
          </a:prstGeom>
          <a:solidFill>
            <a:srgbClr val="5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94776" y="4535424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愛着スコアで地域ファンを育成</a:t>
            </a:r>
          </a:p>
        </p:txBody>
      </p:sp>
      <p:sp>
        <p:nvSpPr>
          <p:cNvPr id="35" name="Oval 34"/>
          <p:cNvSpPr/>
          <p:nvPr/>
        </p:nvSpPr>
        <p:spPr>
          <a:xfrm>
            <a:off x="8284464" y="5440680"/>
            <a:ext cx="146304" cy="146304"/>
          </a:xfrm>
          <a:prstGeom prst="ellipse">
            <a:avLst/>
          </a:prstGeom>
          <a:solidFill>
            <a:srgbClr val="508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94776" y="53400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4F8"/>
                </a:solidFill>
                <a:latin typeface="メイリオ"/>
              </a:rPr>
              <a:t>拡張設計（QR/GPS/通知）で将来対応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274320"/>
            <a:ext cx="3383280" cy="2468880"/>
          </a:xfrm>
          <a:prstGeom prst="roundRect">
            <a:avLst/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320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7B39"/>
                </a:solidFill>
                <a:latin typeface="メイリオ"/>
              </a:rPr>
              <a:t>実証データ（data.json 100名）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6400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B39"/>
                </a:solidFill>
                <a:latin typeface="游ゴシック"/>
              </a:rPr>
              <a:t>47.0%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6766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再訪率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1115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B39"/>
                </a:solidFill>
                <a:latin typeface="游ゴシック"/>
              </a:rPr>
              <a:t>4.1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11521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平均訪問スポット数/回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159105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B39"/>
                </a:solidFill>
                <a:latin typeface="游ゴシック"/>
              </a:rPr>
              <a:t>64.1%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1627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推薦ルート利用率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206654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07B39"/>
                </a:solidFill>
                <a:latin typeface="游ゴシック"/>
              </a:rPr>
              <a:t>¥38,700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  <a:latin typeface="メイリオ"/>
              </a:rPr>
              <a:t>地域内消費額推定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47395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E07B39"/>
                </a:solidFill>
                <a:latin typeface="游ゴシック"/>
              </a:rPr>
              <a:t>旅のつづきは、地域の未来をつなぐ。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08 / 利用者画面 ① ホーム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U-01  ホーム画面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アプリを開くと最初に表示される「旅のきっかけ」ダッシュボード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4904" y="1289304"/>
            <a:ext cx="2383621" cy="516636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2383621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446520"/>
            <a:ext cx="24750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845"/>
                </a:solidFill>
                <a:latin typeface="游ゴシック"/>
              </a:rPr>
              <a:t>U-01  ホーム画面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7709" y="1298448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23701" y="1234440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3701" y="1234440"/>
            <a:ext cx="8985114" cy="475488"/>
          </a:xfrm>
          <a:prstGeom prst="roundRect">
            <a:avLst>
              <a:gd name="adj" fmla="val 2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8293" y="1307592"/>
            <a:ext cx="87107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主な表示内容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3170005" y="1911095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0005" y="1911095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205" y="1883664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ユーザー愛着レベルの表示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7205" y="2157984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Lv.1〜5の称号と現在のスコアを常時表示。達成感を可視化する。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8293" y="2816352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70005" y="2953511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0005" y="295351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205" y="2926079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前回の旅カード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7205" y="3200399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最後の訪問セッションをサマリー形式で振り返り、再訪への感情的接点を提供。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8293" y="3858768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70005" y="3995928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70005" y="3995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7205" y="3968496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未完了ラリー進捗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205" y="4242816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上位の未完了ラリー進捗バーを表示。残りわずかのラリーを前面に出す。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8293" y="4901184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70005" y="5038344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70005" y="5038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🗺️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205" y="5010912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今日のおすすめルート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7205" y="5285232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推薦スコアから算出した最適な60分コースを自動提示。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8293" y="5943600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170005" y="6080759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70005" y="608075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27205" y="6053327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利用可能な特典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27205" y="6327648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現在使えるクーポン・特典件数を表示。消費動機につなげる。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09 / 利用者画面 ② リプレイ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U-02  旅のリプレイ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過去の旅を時系列で振り返る「思い出ライブラリ」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4904" y="1289304"/>
            <a:ext cx="2383621" cy="516636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02_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2383621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446520"/>
            <a:ext cx="24750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845"/>
                </a:solidFill>
                <a:latin typeface="游ゴシック"/>
              </a:rPr>
              <a:t>U-02  旅のリプレイ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7709" y="1298448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23701" y="1234440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3701" y="1234440"/>
            <a:ext cx="8985114" cy="475488"/>
          </a:xfrm>
          <a:prstGeom prst="roundRect">
            <a:avLst>
              <a:gd name="adj" fmla="val 2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8293" y="1307592"/>
            <a:ext cx="87107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主な表示内容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3170005" y="1911095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0005" y="1911095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4470"/>
                </a:solidFill>
                <a:latin typeface="メイリオ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205" y="1883664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セッション別の訪問履歴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7205" y="2157984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来訪日時・セッションIDごとに整理されたリスト。複数回の来訪を一覧表示。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8293" y="2816352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70005" y="2953511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0005" y="295351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4470"/>
                </a:solidFill>
                <a:latin typeface="メイリオ"/>
              </a:rPr>
              <a:t>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205" y="2926079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訪問スポット一覧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7205" y="3200399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各セッションで訪れたスポット・取得スタンプ・利用特典を詳細表示。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8293" y="3858768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70005" y="3995928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70005" y="3995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4470"/>
                </a:solidFill>
                <a:latin typeface="メイリオ"/>
              </a:rPr>
              <a:t>✍️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7205" y="3968496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旅の特徴コメント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205" y="4242816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訪問カテゴリの偏りをもとに「歴史文化重視の旅」などのコメントを自動生成。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8293" y="4901184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70005" y="5038344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70005" y="5038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4470"/>
                </a:solidFill>
                <a:latin typeface="メイリオ"/>
              </a:rPr>
              <a:t>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205" y="5010912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訪問時間・滞在時間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7205" y="5285232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各スポットの入場時刻と平均滞在時間を記録・表示。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10 / 利用者画面 ③ 未完了一覧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U-03  未完了ラリー一覧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スタンプを集めきっていないラリーを一覧表示。再訪の動機を与える。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4904" y="1289304"/>
            <a:ext cx="2383621" cy="516636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03_in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2383621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446520"/>
            <a:ext cx="24750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845"/>
                </a:solidFill>
                <a:latin typeface="游ゴシック"/>
              </a:rPr>
              <a:t>U-03  未完了ラリー一覧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7709" y="1298448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23701" y="1234440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3701" y="1234440"/>
            <a:ext cx="8985114" cy="475488"/>
          </a:xfrm>
          <a:prstGeom prst="roundRect">
            <a:avLst>
              <a:gd name="adj" fmla="val 2000"/>
            </a:avLst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8293" y="1307592"/>
            <a:ext cx="87107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主な表示内容</a:t>
            </a:r>
          </a:p>
        </p:txBody>
      </p:sp>
      <p:sp>
        <p:nvSpPr>
          <p:cNvPr id="14" name="Oval 13"/>
          <p:cNvSpPr/>
          <p:nvPr/>
        </p:nvSpPr>
        <p:spPr>
          <a:xfrm>
            <a:off x="3170005" y="1911095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0005" y="1911095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762"/>
                </a:solidFill>
                <a:latin typeface="メイリオ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205" y="1883664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ラリー進捗バー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7205" y="2157984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スタンプ取得数/全スポット数を視覚的に進捗バーで表示。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8293" y="2816352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70005" y="2953511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0005" y="295351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762"/>
                </a:solidFill>
                <a:latin typeface="メイリオ"/>
              </a:rPr>
              <a:t>🏷️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205" y="2926079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残りスポットの一覧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7205" y="3200399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未訪問スポットの名前・カテゴリ・推定所要時間を表示。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8293" y="3858768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70005" y="3995928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70005" y="3995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762"/>
                </a:solidFill>
                <a:latin typeface="メイリオ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7205" y="3968496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スタンプ取得ボタン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205" y="4242816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現地到着をシミュレーションするボタン。押すと即スタンプが記録される。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8293" y="4901184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70005" y="5038344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70005" y="5038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762"/>
                </a:solidFill>
                <a:latin typeface="メイリオ"/>
              </a:rPr>
              <a:t>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205" y="5010912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コンプリート特典の確認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7205" y="5285232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全スポット訪問時に付与される特典・報酬を事前に表示し、完了モチベーションを高める。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11 / 利用者画面 ④ おすすめルート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U-04  個別おすすめルート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訪問履歴・嗜好・未完了ラリーから5つのパーソナライズコースを自動生成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4904" y="1289304"/>
            <a:ext cx="2383621" cy="516636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04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2383621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446520"/>
            <a:ext cx="24750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845"/>
                </a:solidFill>
                <a:latin typeface="游ゴシック"/>
              </a:rPr>
              <a:t>U-04  個別おすすめルート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7709" y="1298448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23701" y="1234440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3701" y="1234440"/>
            <a:ext cx="8985114" cy="475488"/>
          </a:xfrm>
          <a:prstGeom prst="roundRect">
            <a:avLst>
              <a:gd name="adj" fmla="val 2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8293" y="1307592"/>
            <a:ext cx="87107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提供ルートと推薦ロジック</a:t>
            </a:r>
          </a:p>
        </p:txBody>
      </p:sp>
      <p:sp>
        <p:nvSpPr>
          <p:cNvPr id="14" name="Oval 13"/>
          <p:cNvSpPr/>
          <p:nvPr/>
        </p:nvSpPr>
        <p:spPr>
          <a:xfrm>
            <a:off x="3170005" y="1911095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0005" y="1911095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205" y="1883664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60分・90分・半日・1日の4コース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7205" y="2157984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スポット数と所要時間に応じた4段階のコース。未完了スタンプ優先で選定。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8293" y="2816352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70005" y="2953511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0005" y="295351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205" y="2926079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地元再発見コース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7205" y="3200399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通常の観光スポット以外の地域密着エリアを紹介。リピーター向け差別化コンテンツ。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8293" y="3858768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70005" y="3995928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70005" y="3995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7205" y="3968496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推薦スコアアルゴリズム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205" y="4242816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スタンプ取得率・カテゴリ嗜好・季節スコア・近完了ラリーを組み合わせてスコアリング。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8293" y="4901184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70005" y="5038344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70005" y="5038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205" y="5010912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毎回異なるルート提案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7205" y="5285232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前回と重ならないスポットを優先し、飽きのこない回遊体験を設計。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12 / 利用者画面 ⑤ 愛着スコア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U-05  地域愛着スコア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地域との関係性を数値とレベルで可視化。継続的な絆を育てる体験設計。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4904" y="1289304"/>
            <a:ext cx="2383621" cy="516636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05_atta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2383621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446520"/>
            <a:ext cx="24750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845"/>
                </a:solidFill>
                <a:latin typeface="游ゴシック"/>
              </a:rPr>
              <a:t>U-05  地域愛着スコア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7709" y="1298448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23701" y="1234440"/>
            <a:ext cx="8985114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3701" y="1234440"/>
            <a:ext cx="8985114" cy="475488"/>
          </a:xfrm>
          <a:prstGeom prst="roundRect">
            <a:avLst>
              <a:gd name="adj" fmla="val 2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8293" y="1307592"/>
            <a:ext cx="871079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游ゴシック"/>
              </a:rPr>
              <a:t>愛着スコアの仕組み</a:t>
            </a:r>
          </a:p>
        </p:txBody>
      </p:sp>
      <p:sp>
        <p:nvSpPr>
          <p:cNvPr id="14" name="Oval 13"/>
          <p:cNvSpPr/>
          <p:nvPr/>
        </p:nvSpPr>
        <p:spPr>
          <a:xfrm>
            <a:off x="3170005" y="1911095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0005" y="1911095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205" y="1883664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スコア計算式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7205" y="2157984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訪問×8 + 滞在×0.2 + スタンプ×10 + 特典利用×8 + ラリー完了×20 + 再訪×25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8293" y="2816352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70005" y="2953511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70005" y="2953511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7205" y="2926079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Lv.1〜5の称号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7205" y="3200399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はじめての旅人(0-49) → 地域ファン(50-99) → 地域探索者(100-199) → 地域応援者(200-299) → 地域アンバサダー(300+)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8293" y="3858768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170005" y="3995928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70005" y="39959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7205" y="3968496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ユーザータイプ判定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205" y="4242816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スタンプ収集・滞在重視・回遊・特典利用の4タイプに自動分類。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8293" y="4901184"/>
            <a:ext cx="8710794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70005" y="5038344"/>
            <a:ext cx="384048" cy="384048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70005" y="50383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07B39"/>
                </a:solidFill>
                <a:latin typeface="メイリオ"/>
              </a:rPr>
              <a:t>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205" y="5010912"/>
            <a:ext cx="820787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40E"/>
                </a:solidFill>
                <a:latin typeface="游ゴシック"/>
              </a:rPr>
              <a:t>獲得バッジ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7205" y="5285232"/>
            <a:ext cx="820787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3E30"/>
                </a:solidFill>
                <a:latin typeface="メイリオ"/>
              </a:rPr>
              <a:t>カテゴリ別訪問実績に応じて「歴史スポット好き」「自然満喫派」などのバッジを付与。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13 / 管理者画面 ① KPIダッシュボード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A-01  管理ダッシュボード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リアルタイムKPI・人気スポット・ユーザータイプ分布を一画面で確認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6892544" cy="484632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92544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05192" y="1298448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1184" y="1234440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1184" y="1234440"/>
            <a:ext cx="4613351" cy="475488"/>
          </a:xfrm>
          <a:prstGeom prst="roundRect">
            <a:avLst>
              <a:gd name="adj" fmla="val 2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9200" y="1307592"/>
            <a:ext cx="4412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游ゴシック"/>
              </a:rPr>
              <a:t>表示KPIと指標</a:t>
            </a:r>
          </a:p>
        </p:txBody>
      </p:sp>
      <p:sp>
        <p:nvSpPr>
          <p:cNvPr id="13" name="Oval 12"/>
          <p:cNvSpPr/>
          <p:nvPr/>
        </p:nvSpPr>
        <p:spPr>
          <a:xfrm>
            <a:off x="7569200" y="1911095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9200" y="1911095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536" y="1883664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6 KPIカード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536" y="2139696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再訪率・平均訪問スポット数・スタンプ完了率・推薦ルート利用率・平均滞在時間・地域内消費額推定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8344" y="2816352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69200" y="2953511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9200" y="295351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536" y="2926079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人気スポットランキング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536" y="3182111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訪問数・平均滞在時間・スタンプ取得率の3軸でスポットを評価・ランキング表示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44" y="3858768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69200" y="3995928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9200" y="3995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1536" y="3968496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ユーザータイプ分布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1536" y="4224528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回遊型・コンプリート型・じっくり型・特典活用型の4タイプ別件数を集計表示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8344" y="4901184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9200" y="5038344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9200" y="5038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1536" y="5010912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よくある回遊順 Top10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1536" y="5266944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スポットAからスポットBへの遷移頻度を集計し、主要な動線パターンを可視化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14 / 管理者画面 ② JSONインポート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A-02  JSONインポート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スポット・ユーザー・訪問データをJSONファイルで一括登録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6892544" cy="484632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02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92544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05192" y="1298448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1184" y="1234440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1184" y="1234440"/>
            <a:ext cx="4613351" cy="475488"/>
          </a:xfrm>
          <a:prstGeom prst="roundRect">
            <a:avLst>
              <a:gd name="adj" fmla="val 2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9200" y="1307592"/>
            <a:ext cx="4412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游ゴシック"/>
              </a:rPr>
              <a:t>インポート機能の詳細</a:t>
            </a:r>
          </a:p>
        </p:txBody>
      </p:sp>
      <p:sp>
        <p:nvSpPr>
          <p:cNvPr id="13" name="Oval 12"/>
          <p:cNvSpPr/>
          <p:nvPr/>
        </p:nvSpPr>
        <p:spPr>
          <a:xfrm>
            <a:off x="7569200" y="1911095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9200" y="1911095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536" y="1883664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ファイルアップロード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536" y="2139696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ブラウザから最大20MBのJSONファイルをドラッグ&amp;ドロップまたはファイル選択で取込み可能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8344" y="2816352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69200" y="2953511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9200" y="295351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536" y="2926079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ワンクリックインポート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536" y="3182111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サーバーに同梱したdata.jsonを即時インポートするボタン。初期データ投入に活用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44" y="3858768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69200" y="3995928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9200" y="3995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1536" y="3968496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インポート結果確認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1536" y="4224528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スポット数・ユーザー数・訪問数・スタンプ数など各テーブルの登録件数をその場で確認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8344" y="4901184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9200" y="5038344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9200" y="5038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1536" y="5010912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エラーレポート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1536" y="5266944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重複・バリデーションエラーなどを詳細表示。スキップ件数も確認可能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15 / 管理者画面 ③ スポット管理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A-03  スポット管理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観光スポットの追加・編集・削除をブラウザ上のGUIで操作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6892544" cy="484632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03_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92544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05192" y="1298448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1184" y="1234440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1184" y="1234440"/>
            <a:ext cx="4613351" cy="475488"/>
          </a:xfrm>
          <a:prstGeom prst="roundRect">
            <a:avLst>
              <a:gd name="adj" fmla="val 2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9200" y="1307592"/>
            <a:ext cx="4412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游ゴシック"/>
              </a:rPr>
              <a:t>CRUD操作の詳細</a:t>
            </a:r>
          </a:p>
        </p:txBody>
      </p:sp>
      <p:sp>
        <p:nvSpPr>
          <p:cNvPr id="13" name="Oval 12"/>
          <p:cNvSpPr/>
          <p:nvPr/>
        </p:nvSpPr>
        <p:spPr>
          <a:xfrm>
            <a:off x="7569200" y="1911095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9200" y="1911095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536" y="1883664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スポット一覧表示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536" y="2139696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ID・名称・カテゴリ・エリア・標準滞在時間を一覧表示。検索・ソートが可能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8344" y="2816352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69200" y="2953511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9200" y="295351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536" y="2926079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スポット追加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536" y="3182111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ID・名称・カテゴリ・エリア・標準滞在時間・説明文を入力して新規スポットを登録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44" y="3858768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69200" y="3995928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9200" y="3995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✏️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1536" y="3968496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スポット編集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1536" y="4224528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既存スポットの各フィールドをフォームで編集。変更は即時反映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8344" y="4901184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9200" y="5038344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9200" y="5038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2845"/>
                </a:solidFill>
                <a:latin typeface="メイリオ"/>
              </a:rPr>
              <a:t>🗑️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1536" y="5010912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スポット削除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1536" y="5266944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不要なスポットを削除。関連する訪問データは整合性を保ちながら処理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16 / 管理者画面 ④ ラリー管理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A-04  ラリー管理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スタンプラリーの構成スポット・難易度・期間を一覧管理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6892544" cy="484632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04_ral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92544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05192" y="1298448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1184" y="1234440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1184" y="1234440"/>
            <a:ext cx="4613351" cy="475488"/>
          </a:xfrm>
          <a:prstGeom prst="roundRect">
            <a:avLst>
              <a:gd name="adj" fmla="val 2000"/>
            </a:avLst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9200" y="1307592"/>
            <a:ext cx="4412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游ゴシック"/>
              </a:rPr>
              <a:t>ラリー管理の詳細</a:t>
            </a:r>
          </a:p>
        </p:txBody>
      </p:sp>
      <p:sp>
        <p:nvSpPr>
          <p:cNvPr id="13" name="Oval 12"/>
          <p:cNvSpPr/>
          <p:nvPr/>
        </p:nvSpPr>
        <p:spPr>
          <a:xfrm>
            <a:off x="7569200" y="1911095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9200" y="1911095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8762"/>
                </a:solidFill>
                <a:latin typeface="メイリオ"/>
              </a:rPr>
              <a:t>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536" y="1883664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ラリー一覧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536" y="2139696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ラリーID・名称・シーズンタグ・達成条件・コンプリート特典を一覧で確認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8344" y="2816352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69200" y="2953511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9200" y="295351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8762"/>
                </a:solidFill>
                <a:latin typeface="メイリオ"/>
              </a:rPr>
              <a:t>🗺️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536" y="2926079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構成スポット確認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536" y="3182111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各ラリーに紐づくスポット一覧を表示。カテゴリ・エリアの構成比を確認できる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44" y="3858768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69200" y="3995928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9200" y="3995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8762"/>
                </a:solidFill>
                <a:latin typeface="メイリオ"/>
              </a:rPr>
              <a:t>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1536" y="3968496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コンプリート状況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1536" y="4224528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完了ユーザー数・完了率・平均完了日数などの集計情報を参照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8344" y="4901184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9200" y="5038344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9200" y="5038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8762"/>
                </a:solidFill>
                <a:latin typeface="メイリオ"/>
              </a:rPr>
              <a:t>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1536" y="5010912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シーズンタグ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1536" y="5266944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春・夏・秋・冬・通年のシーズンタグでラリーを分類。季節別展開に対応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17 / 管理者画面 ⑤ 特典管理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A-05  特典管理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クーポン・割引などの特典情報を登録・管理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6892544" cy="484632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05_bene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92544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05192" y="1298448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1184" y="1234440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1184" y="1234440"/>
            <a:ext cx="4613351" cy="475488"/>
          </a:xfrm>
          <a:prstGeom prst="roundRect">
            <a:avLst>
              <a:gd name="adj" fmla="val 2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9200" y="1307592"/>
            <a:ext cx="4412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游ゴシック"/>
              </a:rPr>
              <a:t>特典管理の詳細</a:t>
            </a:r>
          </a:p>
        </p:txBody>
      </p:sp>
      <p:sp>
        <p:nvSpPr>
          <p:cNvPr id="13" name="Oval 12"/>
          <p:cNvSpPr/>
          <p:nvPr/>
        </p:nvSpPr>
        <p:spPr>
          <a:xfrm>
            <a:off x="7569200" y="1911095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9200" y="1911095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536" y="1883664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特典一覧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536" y="2139696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特典ID・名称・想定価値・適用スポット・有効期間を一覧で管理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8344" y="2816352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69200" y="2953511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9200" y="295351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536" y="2926079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対象スポット設定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536" y="3182111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特典を利用できるスポットを複数設定可能。飲食・宿泊・体験など店舗タイプ別に管理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44" y="3858768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69200" y="3995928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9200" y="3995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1536" y="3968496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想定価値管理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1536" y="4224528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特典の円換算価値を設定。消費額推定KPIの計算に活用される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8344" y="4901184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9200" y="5038344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9200" y="5038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07B39"/>
                </a:solidFill>
                <a:latin typeface="メイリオ"/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1536" y="5010912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利用実績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1536" y="5266944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特典ごとの利用回数・利用ユーザー数を集計。人気特典の把握と効果測定に活用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18 / 管理者画面 ⑥ 再訪候補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A-06  再訪候補ユーザー一覧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再訪スコアで自動抽出した100名。施策立案・アプローチ優先度の判断に活用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" y="1289304"/>
            <a:ext cx="6892544" cy="484632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06_revi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6892544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05192" y="1298448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41184" y="1234440"/>
            <a:ext cx="4613351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1184" y="1234440"/>
            <a:ext cx="4613351" cy="475488"/>
          </a:xfrm>
          <a:prstGeom prst="roundRect">
            <a:avLst>
              <a:gd name="adj" fmla="val 2000"/>
            </a:avLst>
          </a:prstGeom>
          <a:solidFill>
            <a:srgbClr val="407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9200" y="1307592"/>
            <a:ext cx="4412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游ゴシック"/>
              </a:rPr>
              <a:t>再訪スコアの計算ロジック</a:t>
            </a:r>
          </a:p>
        </p:txBody>
      </p:sp>
      <p:sp>
        <p:nvSpPr>
          <p:cNvPr id="13" name="Oval 12"/>
          <p:cNvSpPr/>
          <p:nvPr/>
        </p:nvSpPr>
        <p:spPr>
          <a:xfrm>
            <a:off x="7569200" y="1911095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69200" y="1911095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070C8"/>
                </a:solidFill>
                <a:latin typeface="メイリオ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536" y="1883664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再訪スコア算出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536" y="2139696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未完了ラリー数×25 + 最終訪問からの経過日数ボーナス + 特典残数 + 愛着レベル補正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8344" y="2816352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69200" y="2953511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69200" y="295351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070C8"/>
                </a:solidFill>
                <a:latin typeface="メイリオ"/>
              </a:rPr>
              <a:t>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536" y="2926079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ユーザータイプ別表示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536" y="3182111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コンプリート型・回遊型・じっくり型・特典活用型別に色分け表示。タイプ別に施策を変える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78344" y="3858768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69200" y="3995928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69200" y="39959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070C8"/>
                </a:solidFill>
                <a:latin typeface="メイリオ"/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1536" y="3968496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再訪理由の自動生成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1536" y="4224528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「ラリーあと少し」「新特典あり」「長期未訪問」などのラベルを自動付与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78344" y="4901184"/>
            <a:ext cx="4393895" cy="9144"/>
          </a:xfrm>
          <a:prstGeom prst="rect">
            <a:avLst/>
          </a:prstGeom>
          <a:solidFill>
            <a:srgbClr val="E0D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9200" y="5038344"/>
            <a:ext cx="329184" cy="329184"/>
          </a:xfrm>
          <a:prstGeom prst="ellipse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69200" y="50383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070C8"/>
                </a:solidFill>
                <a:latin typeface="メイリオ"/>
              </a:rPr>
              <a:t>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1536" y="5010912"/>
            <a:ext cx="3954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8140E"/>
                </a:solidFill>
                <a:latin typeface="游ゴシック"/>
              </a:rPr>
              <a:t>CSVエクスポート対応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1536" y="5266944"/>
            <a:ext cx="395498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3E30"/>
                </a:solidFill>
                <a:latin typeface="メイリオ"/>
              </a:rPr>
              <a:t>メール配信・DM送付などのCRM連携向けに候補リストをエクスポート可能（拡張予定）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19 / 利用者 画面遷移図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利用者画面 — 画面遷移図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5つのタブを切り替えて全機能にアクセス。すべての画面から別タブへ自由に遷移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1899" y="1325880"/>
            <a:ext cx="1560955" cy="338328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79" y="1280160"/>
            <a:ext cx="1560955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6179" y="4736592"/>
            <a:ext cx="1560955" cy="502920"/>
          </a:xfrm>
          <a:prstGeom prst="roundRect">
            <a:avLst>
              <a:gd name="adj" fmla="val 8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2755" y="4754879"/>
            <a:ext cx="14878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U-01
ホーム画面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84566" y="2825496"/>
            <a:ext cx="502920" cy="292608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51494" y="1325880"/>
            <a:ext cx="1560955" cy="338328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02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774" y="1280160"/>
            <a:ext cx="1560955" cy="3383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205774" y="4736592"/>
            <a:ext cx="1560955" cy="502920"/>
          </a:xfrm>
          <a:prstGeom prst="roundRect">
            <a:avLst>
              <a:gd name="adj" fmla="val 8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2350" y="4754879"/>
            <a:ext cx="14878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U-02
旅のリプレイ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4161" y="2825496"/>
            <a:ext cx="502920" cy="292608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61089" y="1325880"/>
            <a:ext cx="1560955" cy="338328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u03_in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369" y="1280160"/>
            <a:ext cx="1560955" cy="33832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315369" y="4736592"/>
            <a:ext cx="1560955" cy="502920"/>
          </a:xfrm>
          <a:prstGeom prst="roundRect">
            <a:avLst>
              <a:gd name="adj" fmla="val 8000"/>
            </a:avLst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51945" y="4754879"/>
            <a:ext cx="14878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U-03
未完了一覧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03757" y="2825496"/>
            <a:ext cx="502920" cy="292608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70685" y="1325880"/>
            <a:ext cx="1560955" cy="338328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u04_rou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65" y="1280160"/>
            <a:ext cx="1560955" cy="33832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424965" y="4736592"/>
            <a:ext cx="1560955" cy="502920"/>
          </a:xfrm>
          <a:prstGeom prst="roundRect">
            <a:avLst>
              <a:gd name="adj" fmla="val 8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61541" y="4754879"/>
            <a:ext cx="14878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U-04
おすすめルート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13352" y="2825496"/>
            <a:ext cx="502920" cy="292608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80280" y="1325880"/>
            <a:ext cx="1560955" cy="338328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u05_attach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4560" y="1280160"/>
            <a:ext cx="1560955" cy="33832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534560" y="4736592"/>
            <a:ext cx="1560955" cy="502920"/>
          </a:xfrm>
          <a:prstGeom prst="roundRect">
            <a:avLst>
              <a:gd name="adj" fmla="val 8000"/>
            </a:avLst>
          </a:prstGeom>
          <a:solidFill>
            <a:srgbClr val="D4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71136" y="4754879"/>
            <a:ext cx="14878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U-05
地域愛着スコア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6179" y="5321807"/>
            <a:ext cx="9999336" cy="777240"/>
          </a:xfrm>
          <a:prstGeom prst="roundRect">
            <a:avLst>
              <a:gd name="adj" fmla="val 6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79059" y="5376671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7B39"/>
                </a:solidFill>
                <a:latin typeface="游ゴシック"/>
              </a:rPr>
              <a:t>ボトムナビゲーション（全画面共通）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51043" y="5614416"/>
            <a:ext cx="1890139" cy="402336"/>
          </a:xfrm>
          <a:prstGeom prst="roundRect">
            <a:avLst>
              <a:gd name="adj" fmla="val 6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32755" y="5650992"/>
            <a:ext cx="19267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🏠 ホーム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2622" y="5650992"/>
            <a:ext cx="19267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游ゴシック"/>
              </a:rPr>
              <a:t>📖 リプレイ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2489" y="5650992"/>
            <a:ext cx="19267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游ゴシック"/>
              </a:rPr>
              <a:t>📋 未完了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57" y="5650992"/>
            <a:ext cx="19267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游ゴシック"/>
              </a:rPr>
              <a:t>🗺️ ルート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2224" y="5650992"/>
            <a:ext cx="19267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游ゴシック"/>
              </a:rPr>
              <a:t>⭐ 愛着スコア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6179" y="6281927"/>
            <a:ext cx="9999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7A65"/>
                </a:solidFill>
                <a:latin typeface="メイリオ"/>
              </a:rPr>
              <a:t>* 初回起動時はユーザー選択画面を表示。選択後、各タブは独立してAPIデータを取得する。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37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7A65"/>
                </a:solidFill>
                <a:latin typeface="メイリオ"/>
              </a:rPr>
              <a:t>20 / 管理者 画面遷移図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2845"/>
                </a:solidFill>
                <a:latin typeface="游ゴシック"/>
              </a:rPr>
              <a:t>管理者画面 — 画面遷移図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A65"/>
                </a:solidFill>
                <a:latin typeface="メイリオ"/>
              </a:rPr>
              <a:t>ログイン不要・localhost直接アクセス。左サイドバーから全6セクションにアクセス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430000" cy="3657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1920240" cy="2011680"/>
          </a:xfrm>
          <a:prstGeom prst="round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280160"/>
            <a:ext cx="1920240" cy="2011680"/>
          </a:xfrm>
          <a:prstGeom prst="roundRect">
            <a:avLst>
              <a:gd name="adj" fmla="val 6000"/>
            </a:avLst>
          </a:prstGeom>
          <a:solidFill>
            <a:srgbClr val="1A2845"/>
          </a:solidFill>
          <a:ln w="25400">
            <a:solidFill>
              <a:srgbClr val="E07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63039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メイリオ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9456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07B39"/>
                </a:solidFill>
                <a:latin typeface="游ゴシック"/>
              </a:rPr>
              <a:t>管理者画面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505456"/>
            <a:ext cx="1810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AACC"/>
                </a:solidFill>
                <a:latin typeface="メイリオ"/>
              </a:rPr>
              <a:t>localhost:3000/admin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743200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  <a:latin typeface="メイリオ"/>
              </a:rPr>
              <a:t>ログイン不要
（ローカル環境）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40279" y="2139696"/>
            <a:ext cx="457200" cy="292608"/>
          </a:xfrm>
          <a:prstGeom prst="rightArrow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7208" y="1280160"/>
            <a:ext cx="3251200" cy="228600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234440"/>
            <a:ext cx="3251200" cy="2286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761488" y="3575304"/>
            <a:ext cx="3251200" cy="420624"/>
          </a:xfrm>
          <a:prstGeom prst="roundRect">
            <a:avLst>
              <a:gd name="adj" fmla="val 7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3593592"/>
            <a:ext cx="315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A-01
KPIダッシュボード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9576" y="1280160"/>
            <a:ext cx="3251200" cy="228600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02_im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856" y="1234440"/>
            <a:ext cx="3251200" cy="2286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13856" y="3575304"/>
            <a:ext cx="3251200" cy="420624"/>
          </a:xfrm>
          <a:prstGeom prst="roundRect">
            <a:avLst>
              <a:gd name="adj" fmla="val 7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8720" y="3593592"/>
            <a:ext cx="315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A-02
JSONインポート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1944" y="1280160"/>
            <a:ext cx="3251200" cy="228600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03_sp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6224" y="1234440"/>
            <a:ext cx="3251200" cy="2286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666224" y="3575304"/>
            <a:ext cx="3251200" cy="420624"/>
          </a:xfrm>
          <a:prstGeom prst="roundRect">
            <a:avLst>
              <a:gd name="adj" fmla="val 7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21088" y="3593592"/>
            <a:ext cx="315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A-03
スポット管理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07208" y="4590288"/>
            <a:ext cx="3251200" cy="228600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a04_rall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4544568"/>
            <a:ext cx="3251200" cy="22860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761488" y="6885432"/>
            <a:ext cx="3251200" cy="420624"/>
          </a:xfrm>
          <a:prstGeom prst="roundRect">
            <a:avLst>
              <a:gd name="adj" fmla="val 7000"/>
            </a:avLst>
          </a:prstGeom>
          <a:solidFill>
            <a:srgbClr val="3A87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16352" y="6903720"/>
            <a:ext cx="315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A-04
ラリー管理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9576" y="4590288"/>
            <a:ext cx="3251200" cy="228600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a05_benef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856" y="4544568"/>
            <a:ext cx="3251200" cy="22860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213856" y="6885432"/>
            <a:ext cx="3251200" cy="420624"/>
          </a:xfrm>
          <a:prstGeom prst="roundRect">
            <a:avLst>
              <a:gd name="adj" fmla="val 7000"/>
            </a:avLst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68720" y="6903720"/>
            <a:ext cx="315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A-05
特典管理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11944" y="4590288"/>
            <a:ext cx="3251200" cy="2286000"/>
          </a:xfrm>
          <a:prstGeom prst="rect">
            <a:avLst/>
          </a:prstGeom>
          <a:solidFill>
            <a:srgbClr val="D0C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a06_revis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6224" y="4544568"/>
            <a:ext cx="3251200" cy="22860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666224" y="6885432"/>
            <a:ext cx="3251200" cy="420624"/>
          </a:xfrm>
          <a:prstGeom prst="roundRect">
            <a:avLst>
              <a:gd name="adj" fmla="val 7000"/>
            </a:avLst>
          </a:prstGeom>
          <a:solidFill>
            <a:srgbClr val="407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21088" y="6903720"/>
            <a:ext cx="315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游ゴシック"/>
              </a:rPr>
              <a:t>A-06
再訪候補一覧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96896" y="2377440"/>
            <a:ext cx="36576" cy="3310128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596896" y="2359152"/>
            <a:ext cx="402336" cy="36576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596896" y="5669280"/>
            <a:ext cx="402336" cy="36576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74320" y="3703320"/>
            <a:ext cx="11887200" cy="2743200"/>
          </a:xfrm>
          <a:prstGeom prst="roundRect">
            <a:avLst>
              <a:gd name="adj" fmla="val 4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8912" y="3831335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7B39"/>
                </a:solidFill>
                <a:latin typeface="游ゴシック"/>
              </a:rPr>
              <a:t>サイドバー（全セクション共通）— 左メニューから各機能に即座にアクセス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" y="4178808"/>
            <a:ext cx="1853183" cy="2121408"/>
          </a:xfrm>
          <a:prstGeom prst="roundRect">
            <a:avLst>
              <a:gd name="adj" fmla="val 5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0624" y="4270248"/>
            <a:ext cx="1743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📊 KPIダッシュボード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4727448"/>
            <a:ext cx="1743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BDD"/>
                </a:solidFill>
                <a:latin typeface="メイリオ"/>
              </a:rPr>
              <a:t>再訪率・人流データのリアルタイム確認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8672" y="4178808"/>
            <a:ext cx="1853183" cy="2121408"/>
          </a:xfrm>
          <a:prstGeom prst="roundRect">
            <a:avLst>
              <a:gd name="adj" fmla="val 5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01824" y="4270248"/>
            <a:ext cx="1743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📥 JSONインポート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01824" y="4727448"/>
            <a:ext cx="1743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BDD"/>
                </a:solidFill>
                <a:latin typeface="メイリオ"/>
              </a:rPr>
              <a:t>スポット・ユーザーデータの一括登録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09872" y="4178808"/>
            <a:ext cx="1853183" cy="2121408"/>
          </a:xfrm>
          <a:prstGeom prst="roundRect">
            <a:avLst>
              <a:gd name="adj" fmla="val 5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83024" y="4270248"/>
            <a:ext cx="1743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📍 スポット管理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3024" y="4727448"/>
            <a:ext cx="1743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BDD"/>
                </a:solidFill>
                <a:latin typeface="メイリオ"/>
              </a:rPr>
              <a:t>CRUD操作でスポット情報を随時更新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91072" y="4178808"/>
            <a:ext cx="1853183" cy="2121408"/>
          </a:xfrm>
          <a:prstGeom prst="roundRect">
            <a:avLst>
              <a:gd name="adj" fmla="val 5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64224" y="4270248"/>
            <a:ext cx="1743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🏅 ラリー管理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727448"/>
            <a:ext cx="1743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BDD"/>
                </a:solidFill>
                <a:latin typeface="メイリオ"/>
              </a:rPr>
              <a:t>スタンプラリーの構成・条件を管理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2272" y="4178808"/>
            <a:ext cx="1853183" cy="2121408"/>
          </a:xfrm>
          <a:prstGeom prst="roundRect">
            <a:avLst>
              <a:gd name="adj" fmla="val 5000"/>
            </a:avLst>
          </a:prstGeom>
          <a:solidFill>
            <a:srgbClr val="2E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45424" y="4270248"/>
            <a:ext cx="1743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🎁 特典管理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5424" y="4727448"/>
            <a:ext cx="1743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BDD"/>
                </a:solidFill>
                <a:latin typeface="メイリオ"/>
              </a:rPr>
              <a:t>クーポン・特典の登録と管理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53472" y="4178808"/>
            <a:ext cx="1853183" cy="2121408"/>
          </a:xfrm>
          <a:prstGeom prst="roundRect">
            <a:avLst>
              <a:gd name="adj" fmla="val 5000"/>
            </a:avLst>
          </a:prstGeom>
          <a:solidFill>
            <a:srgbClr val="1A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26624" y="4270248"/>
            <a:ext cx="17434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游ゴシック"/>
              </a:rPr>
              <a:t>🔔 再訪候補一覧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26624" y="4727448"/>
            <a:ext cx="17434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BDD"/>
                </a:solidFill>
                <a:latin typeface="メイリオ"/>
              </a:rPr>
              <a:t>施策対象ユーザーを自動抽出・表示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1540</Words>
  <Application>Microsoft Office PowerPoint</Application>
  <PresentationFormat>ワイド画面</PresentationFormat>
  <Paragraphs>555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6" baseType="lpstr">
      <vt:lpstr>ＭＳ Ｐゴシック</vt:lpstr>
      <vt:lpstr>メイリオ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masahiro</cp:lastModifiedBy>
  <cp:revision>2</cp:revision>
  <dcterms:created xsi:type="dcterms:W3CDTF">2013-01-27T09:14:16Z</dcterms:created>
  <dcterms:modified xsi:type="dcterms:W3CDTF">2026-06-26T03:42:18Z</dcterms:modified>
  <cp:category/>
</cp:coreProperties>
</file>